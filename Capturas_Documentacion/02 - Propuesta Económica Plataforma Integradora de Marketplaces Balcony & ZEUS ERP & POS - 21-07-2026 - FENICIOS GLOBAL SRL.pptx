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59675" cy="10691813"/>
  <p:notesSz cx="6858000" cy="9144000"/>
  <p:embeddedFontLst>
    <p:embeddedFont>
      <p:font typeface="Roboto" panose="02000000000000000000" pitchFamily="2" charset="0"/>
      <p:regular r:id="rId4"/>
      <p:bold r:id="rId5"/>
      <p:italic r:id="rId6"/>
      <p:boldItalic r:id="rId7"/>
    </p:embeddedFont>
    <p:embeddedFont>
      <p:font typeface="Ubuntu" panose="020B050403060203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A4A3A4"/>
          </p15:clr>
        </p15:guide>
        <p15:guide id="2" pos="238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6uR3YufdkT6IIRxKefE0ChcoS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77D449-8B97-4026-9F53-FBCC8DF5A31F}">
  <a:tblStyle styleId="{3C77D449-8B97-4026-9F53-FBCC8DF5A31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C4625759-933A-498F-BE7B-406CF842ABB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2" d="100"/>
          <a:sy n="92" d="100"/>
        </p:scale>
        <p:origin x="1646" y="53"/>
      </p:cViewPr>
      <p:guideLst>
        <p:guide orient="horz" pos="336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19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>
            <a:spLocks noGrp="1"/>
          </p:cNvSpPr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ubTitle" idx="1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2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>
            <a:spLocks noGrp="1"/>
          </p:cNvSpPr>
          <p:nvPr>
            <p:ph type="title" hasCustomPrompt="1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>
            <a:spLocks noGrp="1"/>
          </p:cNvSpPr>
          <p:nvPr>
            <p:ph type="body" idx="1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040" y="9895390"/>
            <a:ext cx="112500" cy="1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1262" y="10182850"/>
            <a:ext cx="190080" cy="144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" name="Google Shape;56;p1"/>
          <p:cNvGraphicFramePr/>
          <p:nvPr>
            <p:extLst>
              <p:ext uri="{D42A27DB-BD31-4B8C-83A1-F6EECF244321}">
                <p14:modId xmlns:p14="http://schemas.microsoft.com/office/powerpoint/2010/main" val="3210344699"/>
              </p:ext>
            </p:extLst>
          </p:nvPr>
        </p:nvGraphicFramePr>
        <p:xfrm>
          <a:off x="498625" y="769975"/>
          <a:ext cx="6872775" cy="8690394"/>
        </p:xfrm>
        <a:graphic>
          <a:graphicData uri="http://schemas.openxmlformats.org/drawingml/2006/table">
            <a:tbl>
              <a:tblPr>
                <a:noFill/>
                <a:tableStyleId>{3C77D449-8B97-4026-9F53-FBCC8DF5A31F}</a:tableStyleId>
              </a:tblPr>
              <a:tblGrid>
                <a:gridCol w="356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00975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sng" strike="noStrike" cap="none" dirty="0">
                          <a:solidFill>
                            <a:srgbClr val="6A00A7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PROPUESTA ECONÓMICA PARA PROVISIÓN DE SERVICIO DE PLATAFORMA INTEGRADORA DE MARKETPLACES BALCONY</a:t>
                      </a:r>
                      <a:endParaRPr sz="900" b="1" u="sng" strike="noStrike" cap="none" dirty="0">
                        <a:solidFill>
                          <a:srgbClr val="6A00A7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Razón Social: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 </a:t>
                      </a:r>
                      <a:r>
                        <a:rPr lang="es-AR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FENICIOS GLOBAL SRL                                                     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CUIT: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 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30-71155030-1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                                               Fecha: 21/07/202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6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Responsable Legal: </a:t>
                      </a:r>
                      <a:r>
                        <a:rPr lang="es-AR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ALEJANDRO ALMIRON                                         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DNI: 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25.815.365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                                                       Cargo: RESPONSABLE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Domicilio Fiscal: 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BUENOS AIRES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4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DETALLE - FEE y ONBOARDING - SERVICIO PLATAFORMA BALCONY INTEGRADA A ZEUS ERP &amp; POS</a:t>
                      </a:r>
                      <a:endParaRPr sz="900" b="1" u="none" strike="noStrike" cap="none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ABONO</a:t>
                      </a:r>
                      <a:r>
                        <a:rPr lang="es" sz="900" b="1" u="none" strike="noStrike" cap="none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      MENSUAL</a:t>
                      </a:r>
                      <a:endParaRPr sz="900" b="1" u="none" strike="noStrike" cap="none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90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ECOSISTEMA ZEUS - PLATAFORMA BALCONY PLUS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$260.629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90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ECOSISTEMA ZEUS - PLATAFORMA BALCONY - ENVIO FACTURAS PDF ≤1000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$33.978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latin typeface="Ubuntu"/>
                          <a:ea typeface="Ubuntu"/>
                          <a:cs typeface="Ubuntu"/>
                          <a:sym typeface="Ubuntu"/>
                        </a:rPr>
                        <a:t>Total </a:t>
                      </a:r>
                      <a:r>
                        <a:rPr lang="es" sz="900" b="1" dirty="0">
                          <a:latin typeface="Ubuntu"/>
                          <a:ea typeface="Ubuntu"/>
                          <a:cs typeface="Ubuntu"/>
                          <a:sym typeface="Ubuntu"/>
                        </a:rPr>
                        <a:t>Abono</a:t>
                      </a:r>
                      <a:r>
                        <a:rPr lang="es" sz="900" b="1" u="none" strike="noStrike" cap="none" dirty="0">
                          <a:latin typeface="Ubuntu"/>
                          <a:ea typeface="Ubuntu"/>
                          <a:cs typeface="Ubuntu"/>
                          <a:sym typeface="Ubuntu"/>
                        </a:rPr>
                        <a:t> Mensual - Balcony Plan Plus</a:t>
                      </a:r>
                      <a:endParaRPr sz="900" b="1" u="none" strike="noStrike" cap="none" dirty="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highlight>
                          <a:srgbClr val="FFFF00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highlight>
                          <a:srgbClr val="FFFF00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sng" strike="noStrike" cap="none" dirty="0"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$</a:t>
                      </a:r>
                      <a:r>
                        <a:rPr lang="es" sz="900" b="1" u="sng" dirty="0"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294.607</a:t>
                      </a:r>
                      <a:endParaRPr sz="900" b="1" u="sng" strike="noStrike" cap="none" dirty="0"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latin typeface="Ubuntu"/>
                          <a:ea typeface="Ubuntu"/>
                          <a:cs typeface="Ubuntu"/>
                          <a:sym typeface="Ubuntu"/>
                        </a:rPr>
                        <a:t>Onboarding profesional de Balcony para Plan Plus</a:t>
                      </a:r>
                      <a:endParaRPr sz="900" u="none" strike="noStrike" cap="none" dirty="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highlight>
                          <a:srgbClr val="FFFF00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highlight>
                          <a:srgbClr val="FFFF00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$1.473.035</a:t>
                      </a:r>
                      <a:endParaRPr sz="900" u="none" strike="noStrike" cap="none" dirty="0"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rgbClr val="666666"/>
                          </a:solidFill>
                          <a:highlight>
                            <a:srgbClr val="EFEFE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Beneficio - Alianza Zeus + Balcony</a:t>
                      </a:r>
                      <a:endParaRPr sz="900" u="none" strike="noStrike" cap="none">
                        <a:solidFill>
                          <a:srgbClr val="666666"/>
                        </a:solidFill>
                        <a:highlight>
                          <a:srgbClr val="EFEFEF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highlight>
                            <a:srgbClr val="EFEFE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Beneficio 20 %</a:t>
                      </a:r>
                      <a:endParaRPr sz="900" u="none" strike="noStrike" cap="none" dirty="0">
                        <a:highlight>
                          <a:srgbClr val="EFEFEF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highlight>
                          <a:srgbClr val="EFEFEF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highlight>
                          <a:srgbClr val="EFEFEF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2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($294.607)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2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latin typeface="Ubuntu"/>
                          <a:ea typeface="Ubuntu"/>
                          <a:cs typeface="Ubuntu"/>
                          <a:sym typeface="Ubuntu"/>
                        </a:rPr>
                        <a:t>Total de Onboarding profesional de Balcony para su Plan Plus</a:t>
                      </a:r>
                      <a:endParaRPr sz="900" b="1" u="none" strike="noStrike" cap="none" dirty="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sng" strike="noStrike" cap="none" dirty="0"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$1.178.428</a:t>
                      </a:r>
                      <a:endParaRPr sz="900" b="1" u="sng" strike="noStrike" cap="none" dirty="0"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04975">
                <a:tc gridSpan="5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(*) El valor del servicio de arrendamiento mensual de la plataforma Balcony para su tecnología prevista en el Plan Plus incluye: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457200" marR="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900"/>
                        <a:buFont typeface="Ubuntu"/>
                        <a:buChar char="❖"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Uso del producto 7x24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457200" marR="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900"/>
                        <a:buFont typeface="Ubuntu"/>
                        <a:buChar char="❖"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Soporte en idioma español.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457200" marR="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900"/>
                        <a:buFont typeface="Ubuntu"/>
                        <a:buChar char="❖"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2 Cuenta de Mercado Libre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457200" marR="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900"/>
                        <a:buFont typeface="Ubuntu"/>
                        <a:buChar char="❖"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Hasta 2500 Publicaciones a Sincronizar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457200" marR="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900"/>
                        <a:buFont typeface="Ubuntu"/>
                        <a:buChar char="❖"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2 Usuarios Concurrentes para la plataforma de Balcony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Nota: Sólo se podrá asignar una misma lista de precios y un mismo depósito por implementación, pudiéndose establecer reglas con incrementos porcentuales sobre la plataforma de Balcony. En caso de requerir asignar distintas listas de precios y distintos depósitos a los canales contratados, se deberá contratar una implementación de balcony adicional por cada canal a integrar.</a:t>
                      </a:r>
                      <a:endParaRPr sz="8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----------------------------------------------------------------------------------------------------------------------------------------------------------------------------------------------------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Los valores pactados corresponden a precios especiales de Partnership en el marco de la Alianza ZEUS + BALCONY.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Forma de Pago del Onboarding: En 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3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 pagos iguales y consecutivos sin interés, siendo el 1er pago inicial vía transferencia bancaria y el restante a 30 y 60 días de la firma de la orden de servicio, vía e-Cheq.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Forma de Pago del Abono Mensual por Débito Automático Bancario como condición de Contratación del Servicio. La Facturación del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abono mensual corre a partir de la fecha asignada de arranque del proceso de Onboarding.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Tiempo mínimo de permanencia 360 días, equivalente a 12 meses de facturación plena del servicio contratado.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Los importes expresados en la propuesta son en términos brutos y no incluyen impuestos (IVA y Percepciones IIBB).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Los beneficios otorgados no son renovables. 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Validez de la Propuesta Económica: hasta el 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31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/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07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/202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6</a:t>
                      </a:r>
                      <a:endParaRPr sz="900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----------------------------------------------------------------------------------------------------------------------------------------------------------------------------------------------------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27200">
                <a:tc gridSpan="5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Por medio del presente dejo constancia de comprensión y aceptación de los alcances y funcionalidades que involucra la propuesta de provisión del servicio mensual de la Plataforma Integradora de Marketplaces Balcony, Plan Plus, conectada a ZEUS ERP &amp; POS.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7" name="Google Shape;57;p1"/>
          <p:cNvSpPr txBox="1"/>
          <p:nvPr/>
        </p:nvSpPr>
        <p:spPr>
          <a:xfrm>
            <a:off x="2037550" y="9612769"/>
            <a:ext cx="5391000" cy="920031"/>
          </a:xfrm>
          <a:prstGeom prst="rect">
            <a:avLst/>
          </a:prstGeom>
          <a:noFill/>
          <a:ln w="9525" cap="flat" cmpd="sng">
            <a:solidFill>
              <a:srgbClr val="6A00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" sz="9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Ubuntu"/>
                <a:ea typeface="Ubuntu"/>
                <a:cs typeface="Ubuntu"/>
                <a:sym typeface="Ubuntu"/>
              </a:rPr>
              <a:t>RAZÓN SOCIAL y CUIT: </a:t>
            </a:r>
            <a:r>
              <a:rPr lang="es-AR" sz="900" dirty="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rPr>
              <a:t>FENICIOS GLOBAL SRL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" sz="9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Ubuntu"/>
                <a:ea typeface="Ubuntu"/>
                <a:cs typeface="Ubuntu"/>
                <a:sym typeface="Ubuntu"/>
              </a:rPr>
              <a:t>REPRESENTANTE LEGAL: </a:t>
            </a:r>
            <a:r>
              <a:rPr lang="es-AR" sz="900" dirty="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rPr>
              <a:t>ALEJANDRO ALMIRON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" sz="9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Ubuntu"/>
                <a:ea typeface="Ubuntu"/>
                <a:cs typeface="Ubuntu"/>
                <a:sym typeface="Ubuntu"/>
              </a:rPr>
              <a:t>NUMERO DNI</a:t>
            </a:r>
            <a:r>
              <a:rPr lang="es" sz="9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Ubuntu"/>
                <a:ea typeface="Ubuntu"/>
                <a:cs typeface="Ubuntu"/>
                <a:sym typeface="Ubuntu"/>
              </a:rPr>
              <a:t>: </a:t>
            </a:r>
            <a:r>
              <a:rPr lang="es" sz="90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rPr>
              <a:t>25.815.365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" sz="9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Ubuntu"/>
                <a:ea typeface="Ubuntu"/>
                <a:cs typeface="Ubuntu"/>
                <a:sym typeface="Ubuntu"/>
              </a:rPr>
              <a:t>FIRMA </a:t>
            </a:r>
            <a:r>
              <a:rPr lang="es" sz="9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Ubuntu"/>
                <a:ea typeface="Ubuntu"/>
                <a:cs typeface="Ubuntu"/>
                <a:sym typeface="Ubuntu"/>
              </a:rPr>
              <a:t>y ACLARACIÓN:	    ………...………………………………………………………...………...……...</a:t>
            </a:r>
            <a:endParaRPr sz="9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58" name="Google Shape;58;p1"/>
          <p:cNvGraphicFramePr/>
          <p:nvPr/>
        </p:nvGraphicFramePr>
        <p:xfrm>
          <a:off x="617089" y="9801089"/>
          <a:ext cx="1792625" cy="525750"/>
        </p:xfrm>
        <a:graphic>
          <a:graphicData uri="http://schemas.openxmlformats.org/drawingml/2006/table">
            <a:tbl>
              <a:tblPr>
                <a:noFill/>
                <a:tableStyleId>{C4625759-933A-498F-BE7B-406CF842ABB9}</a:tableStyleId>
              </a:tblPr>
              <a:tblGrid>
                <a:gridCol w="179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5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b="1" u="none" strike="noStrike" cap="none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Ventas Digitales</a:t>
                      </a:r>
                      <a:endParaRPr sz="1200" b="1" u="none" strike="noStrike" cap="none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" sz="1050" u="none" strike="noStrike" cap="none"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ventas@infosis.tech</a:t>
                      </a:r>
                      <a:r>
                        <a:rPr lang="es" sz="1050" u="none" strike="noStrike" cap="none">
                          <a:solidFill>
                            <a:srgbClr val="00CDC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200" u="none" strike="noStrike" cap="none">
                        <a:solidFill>
                          <a:srgbClr val="00CDCD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9" name="Google Shape;59;p1"/>
          <p:cNvPicPr preferRelativeResize="0"/>
          <p:nvPr/>
        </p:nvPicPr>
        <p:blipFill rotWithShape="1">
          <a:blip r:embed="rId5">
            <a:alphaModFix/>
          </a:blip>
          <a:srcRect l="46704"/>
          <a:stretch/>
        </p:blipFill>
        <p:spPr>
          <a:xfrm>
            <a:off x="5647903" y="152400"/>
            <a:ext cx="1505550" cy="46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" title="logo Zeus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28575" y="253681"/>
            <a:ext cx="1148800" cy="335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5944</TotalTime>
  <Words>457</Words>
  <Application>Microsoft Office PowerPoint</Application>
  <PresentationFormat>Personalizado</PresentationFormat>
  <Paragraphs>56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Ubuntu</vt:lpstr>
      <vt:lpstr>Roboto</vt:lpstr>
      <vt:lpstr>Arial</vt:lpstr>
      <vt:lpstr>Simple Light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Parque04</dc:creator>
  <cp:lastModifiedBy>dechavarria</cp:lastModifiedBy>
  <cp:revision>2</cp:revision>
  <dcterms:modified xsi:type="dcterms:W3CDTF">2026-07-21T19:19:30Z</dcterms:modified>
</cp:coreProperties>
</file>