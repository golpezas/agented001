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Ubuntu" panose="020B050403060203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jS5vq1WddXYL1J3oOkqOIvb0eC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BD3EDB-EBCD-43E6-BC40-DAD4C8E0F2E0}">
  <a:tblStyle styleId="{DFBD3EDB-EBCD-43E6-BC40-DAD4C8E0F2E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1723" y="-2405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4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43349fa4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243349fa4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://ventas@infosis.te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zeuserp.tech" TargetMode="External"/><Relationship Id="rId5" Type="http://schemas.openxmlformats.org/officeDocument/2006/relationships/hyperlink" Target="https://terminosycondiciones.zeuserp.tech" TargetMode="External"/><Relationship Id="rId4" Type="http://schemas.openxmlformats.org/officeDocument/2006/relationships/hyperlink" Target="https://tecnologias.zeuserp.te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43349fa4f7_0_0">
            <a:hlinkClick r:id="rId4"/>
          </p:cNvPr>
          <p:cNvSpPr txBox="1"/>
          <p:nvPr/>
        </p:nvSpPr>
        <p:spPr>
          <a:xfrm>
            <a:off x="5692775" y="9970550"/>
            <a:ext cx="1020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243349fa4f7_0_0">
            <a:hlinkClick r:id="rId5"/>
          </p:cNvPr>
          <p:cNvSpPr txBox="1"/>
          <p:nvPr/>
        </p:nvSpPr>
        <p:spPr>
          <a:xfrm>
            <a:off x="5684300" y="10199150"/>
            <a:ext cx="17145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243349fa4f7_0_0">
            <a:hlinkClick r:id="rId6"/>
          </p:cNvPr>
          <p:cNvSpPr txBox="1"/>
          <p:nvPr/>
        </p:nvSpPr>
        <p:spPr>
          <a:xfrm>
            <a:off x="5684300" y="10408475"/>
            <a:ext cx="8403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243349fa4f7_0_0"/>
          <p:cNvSpPr txBox="1"/>
          <p:nvPr/>
        </p:nvSpPr>
        <p:spPr>
          <a:xfrm>
            <a:off x="900650" y="9985550"/>
            <a:ext cx="2152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Ventas Digitales</a:t>
            </a:r>
            <a:endParaRPr sz="1200" b="0" i="0" u="none" strike="noStrike" cap="none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1" u="sng" strike="noStrike" cap="none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7"/>
              </a:rPr>
              <a:t>ventas@infosis.tech</a:t>
            </a:r>
            <a:endParaRPr sz="1200" b="0" i="1" u="none" strike="noStrike" cap="none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58" name="Google Shape;58;g243349fa4f7_0_0"/>
          <p:cNvGraphicFramePr/>
          <p:nvPr>
            <p:extLst>
              <p:ext uri="{D42A27DB-BD31-4B8C-83A1-F6EECF244321}">
                <p14:modId xmlns:p14="http://schemas.microsoft.com/office/powerpoint/2010/main" val="3696063394"/>
              </p:ext>
            </p:extLst>
          </p:nvPr>
        </p:nvGraphicFramePr>
        <p:xfrm>
          <a:off x="297425" y="1182606"/>
          <a:ext cx="7101375" cy="6483216"/>
        </p:xfrm>
        <a:graphic>
          <a:graphicData uri="http://schemas.openxmlformats.org/drawingml/2006/table">
            <a:tbl>
              <a:tblPr>
                <a:noFill/>
                <a:tableStyleId>{DFBD3EDB-EBCD-43E6-BC40-DAD4C8E0F2E0}</a:tableStyleId>
              </a:tblPr>
              <a:tblGrid>
                <a:gridCol w="37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72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sng" strike="noStrike" cap="none" dirty="0">
                          <a:solidFill>
                            <a:srgbClr val="6A00A7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PROPUESTA ECONÓMICA y ACEPTACIÓN DE ORDEN DE SERVICIO PARA PROVISIÓN DE SOFTWARE</a:t>
                      </a:r>
                      <a:endParaRPr sz="1000" b="1" u="sng" strike="noStrike" cap="none" dirty="0">
                        <a:solidFill>
                          <a:srgbClr val="6A00A7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chemeClr val="dk2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Razón Social: ESTHER S.A                                                                            CUIT: 30-71854916-3                                     Fecha: 17/07/2026</a:t>
                      </a:r>
                    </a:p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chemeClr val="dk2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Responsable Legal: HERNAN SANTARSIERI                                            DNI: 28.439.412                                               Cargo: TITULAR</a:t>
                      </a: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chemeClr val="dk2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Domicilio Fiscal: Buenos Aires</a:t>
                      </a:r>
                      <a:endParaRPr lang="es-ES"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SERVICIOS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FEE MENSUAL 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ACCESOS VIRTUALES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ACCESOS SIMULTÁNEOS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TOTAL 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FEE MENSUAL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AR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ZEUS ERP &amp; POS, </a:t>
                      </a:r>
                      <a:r>
                        <a:rPr lang="es-AR" sz="900" u="none" strike="noStrike" cap="none" dirty="0" err="1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Advanced</a:t>
                      </a:r>
                      <a:r>
                        <a:rPr lang="es-AR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Tech, Acceso Virtual AMH (</a:t>
                      </a:r>
                      <a:r>
                        <a:rPr lang="es-AR" sz="900" u="none" strike="noStrike" cap="none" dirty="0" err="1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Markethub</a:t>
                      </a:r>
                      <a:r>
                        <a:rPr lang="es-AR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)</a:t>
                      </a: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$180.000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u="none" strike="noStrike" cap="none">
                        <a:solidFill>
                          <a:srgbClr val="666666"/>
                        </a:solidFill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</a:t>
                      </a:r>
                      <a:endParaRPr sz="900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$180.000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3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dirty="0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Total Fee Mensual Servicio - ZEUS ERP &amp; POS, Advanced Tech</a:t>
                      </a:r>
                      <a:endParaRPr sz="900" b="1" u="none" strike="noStrike" cap="none" dirty="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 dirty="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sng" strike="noStrike" cap="none" dirty="0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$180.000</a:t>
                      </a:r>
                      <a:endParaRPr sz="1000" b="1" u="sng" strike="noStrike" cap="none" dirty="0">
                        <a:solidFill>
                          <a:schemeClr val="dk1"/>
                        </a:solidFill>
                        <a:highlight>
                          <a:srgbClr val="00CDCD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3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 u="sng" strike="noStrike" cap="none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300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Inversión en Licenciamiento de Accesos y Servicios, ZEUS ERP &amp; POS, Advanced Tech</a:t>
                      </a:r>
                      <a:endParaRPr sz="900" b="1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dirty="0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$900.000</a:t>
                      </a:r>
                      <a:endParaRPr sz="900" b="1" strike="noStrike" cap="none" dirty="0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4300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dirty="0">
                          <a:solidFill>
                            <a:schemeClr val="dk2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Beneficio Extraordinario - Ventas por Canal Digital                                                       10% OFF</a:t>
                      </a:r>
                      <a:endParaRPr sz="900" dirty="0">
                        <a:solidFill>
                          <a:schemeClr val="dk2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($90.000)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4300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 dirty="0">
                          <a:solidFill>
                            <a:schemeClr val="dk2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Beneficio Especial Atención de Dirección Comercial                                                      </a:t>
                      </a:r>
                      <a:r>
                        <a:rPr lang="es" sz="900" dirty="0">
                          <a:solidFill>
                            <a:schemeClr val="dk2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10% OFF</a:t>
                      </a:r>
                      <a:endParaRPr sz="900" dirty="0">
                        <a:solidFill>
                          <a:schemeClr val="dk2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($90.000)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" sz="900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0512"/>
                  </a:ext>
                </a:extLst>
              </a:tr>
              <a:tr h="174300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dirty="0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Total Inversión en Licenciamiento de Accesos y Servicios, ZEUS ERP &amp; POS, Advanced Tech</a:t>
                      </a:r>
                      <a:endParaRPr sz="900" dirty="0">
                        <a:solidFill>
                          <a:schemeClr val="dk2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sng" dirty="0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$720.000</a:t>
                      </a:r>
                      <a:endParaRPr sz="900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08250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sng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Validez de la Propuesta Económica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: los términos y condiciones de la presente tendrán validez hasta el 31/07/2026 a las 17 hrs.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sng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900" u="sng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Forma de Pago del Licenciamiento: </a:t>
                      </a:r>
                      <a:r>
                        <a:rPr lang="es-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en 3 pagos iguales y consecutivos sin interés, siendo el 1er pago inicial vía transferencia bancaria; y los restantes a 30 y 60 de la firma de la orden de servicio, vía e-</a:t>
                      </a:r>
                      <a:r>
                        <a:rPr lang="es-ES" sz="900" u="none" strike="noStrike" cap="none" dirty="0" err="1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Cheq</a:t>
                      </a:r>
                      <a:r>
                        <a:rPr lang="es-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. Los beneficios otorgados no podrán ser renovados.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Los importes expresados en términos brutos no incluyen impuestos (IVA y Percepciones IIBB).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"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Forma de Pago del Fee Mensual por Débito Automático Bancario como condición de Contratación del Servicio.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La Facturación del Fee Mensual corre a partir de la fecha asignada de arranque del proceso de Onboarding. 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Tiempo mínimo de permanencia 360 días, equivalente a 12 meses de facturación plena del servicio contratado. 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La  Inversión del Licenciamiento corresponde al requerimiento, concurrencia y tipo de accesos itemizados y cotizados. 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rgbClr val="00CDCD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44375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Por medio de la presente dejo constancia de la comprensión y aceptación de la propuesta económica correspondiente a la orden de servicio de provisión de software conforme los Términos y Condiciones del Sistema ZEUS ERP &amp; POS, Advanced Tech.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" name="Google Shape;59;g243349fa4f7_0_0">
            <a:extLst>
              <a:ext uri="{FF2B5EF4-FFF2-40B4-BE49-F238E27FC236}">
                <a16:creationId xmlns:a16="http://schemas.microsoft.com/office/drawing/2014/main" id="{9A12C3A6-E766-30F8-3FDE-993D0C0F883C}"/>
              </a:ext>
            </a:extLst>
          </p:cNvPr>
          <p:cNvSpPr txBox="1"/>
          <p:nvPr/>
        </p:nvSpPr>
        <p:spPr>
          <a:xfrm>
            <a:off x="1228291" y="8651184"/>
            <a:ext cx="5391000" cy="1029441"/>
          </a:xfrm>
          <a:prstGeom prst="rect">
            <a:avLst/>
          </a:prstGeom>
          <a:noFill/>
          <a:ln w="9525" cap="flat" cmpd="sng">
            <a:solidFill>
              <a:srgbClr val="6A00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RAZÓN SOCIAL y CUIT: </a:t>
            </a:r>
            <a:r>
              <a:rPr lang="es-AR" sz="900" dirty="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ESTHER S.A </a:t>
            </a:r>
            <a:r>
              <a:rPr lang="es" sz="900" b="0" i="0" u="none" strike="noStrike" cap="none" dirty="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| </a:t>
            </a:r>
            <a:r>
              <a:rPr lang="es" sz="900" dirty="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30-71854916-3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REPRESENTANTE LEGAL:</a:t>
            </a:r>
            <a:r>
              <a:rPr lang="es" sz="900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es-AR" sz="900" dirty="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HERNAN SANTARSIERI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NUMERO DNI: </a:t>
            </a:r>
            <a:r>
              <a:rPr lang="es" sz="900" dirty="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28.439.412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FIRMA y ACLARACIÓN:	                   ………...………………………………………………………...</a:t>
            </a:r>
            <a:endParaRPr sz="9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15021</TotalTime>
  <Words>380</Words>
  <Application>Microsoft Office PowerPoint</Application>
  <PresentationFormat>Personalizado</PresentationFormat>
  <Paragraphs>46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Ubuntu</vt:lpstr>
      <vt:lpstr>Arial</vt:lpstr>
      <vt:lpstr>Simple Light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Parque04</dc:creator>
  <cp:lastModifiedBy>dechavarria</cp:lastModifiedBy>
  <cp:revision>3</cp:revision>
  <dcterms:modified xsi:type="dcterms:W3CDTF">2026-07-20T14:01:38Z</dcterms:modified>
</cp:coreProperties>
</file>