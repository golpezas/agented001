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59675" cy="10691813"/>
  <p:notesSz cx="6858000" cy="9144000"/>
  <p:embeddedFontLst>
    <p:embeddedFont>
      <p:font typeface="Roboto" panose="02000000000000000000" pitchFamily="2" charset="0"/>
      <p:regular r:id="rId4"/>
      <p:bold r:id="rId5"/>
      <p:italic r:id="rId6"/>
      <p:boldItalic r:id="rId7"/>
    </p:embeddedFont>
    <p:embeddedFont>
      <p:font typeface="Ubuntu" panose="020B0504030602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8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6uR3YufdkT6IIRxKefE0ChcoS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77D449-8B97-4026-9F53-FBCC8DF5A31F}">
  <a:tblStyle styleId="{3C77D449-8B97-4026-9F53-FBCC8DF5A3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4625759-933A-498F-BE7B-406CF842ABB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1646" y="53"/>
      </p:cViewPr>
      <p:guideLst>
        <p:guide orient="horz" pos="3368"/>
        <p:guide pos="23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4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ctrTitle"/>
          </p:nvPr>
        </p:nvSpPr>
        <p:spPr>
          <a:xfrm>
            <a:off x="257712" y="1547778"/>
            <a:ext cx="7044600" cy="42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ubTitle" idx="1"/>
          </p:nvPr>
        </p:nvSpPr>
        <p:spPr>
          <a:xfrm>
            <a:off x="257705" y="5891409"/>
            <a:ext cx="70446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title"/>
          </p:nvPr>
        </p:nvSpPr>
        <p:spPr>
          <a:xfrm>
            <a:off x="257705" y="4471058"/>
            <a:ext cx="7044600" cy="17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2"/>
          </p:nvPr>
        </p:nvSpPr>
        <p:spPr>
          <a:xfrm>
            <a:off x="3995291" y="2395696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57705" y="1154948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257705" y="2888617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405325" y="935745"/>
            <a:ext cx="5264700" cy="85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780000" y="-260"/>
            <a:ext cx="3780000" cy="1069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19508" y="2563450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219508" y="5826865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083839" y="1505164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257705" y="8794266"/>
            <a:ext cx="4959600" cy="12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>
            <a:spLocks noGrp="1"/>
          </p:cNvSpPr>
          <p:nvPr>
            <p:ph type="title" hasCustomPrompt="1"/>
          </p:nvPr>
        </p:nvSpPr>
        <p:spPr>
          <a:xfrm>
            <a:off x="257705" y="2299346"/>
            <a:ext cx="7044600" cy="4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>
            <a:spLocks noGrp="1"/>
          </p:cNvSpPr>
          <p:nvPr>
            <p:ph type="body" idx="1"/>
          </p:nvPr>
        </p:nvSpPr>
        <p:spPr>
          <a:xfrm>
            <a:off x="257705" y="6552657"/>
            <a:ext cx="7044600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0040" y="9895390"/>
            <a:ext cx="1125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262" y="10182850"/>
            <a:ext cx="190080" cy="14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" name="Google Shape;56;p1"/>
          <p:cNvGraphicFramePr/>
          <p:nvPr>
            <p:extLst>
              <p:ext uri="{D42A27DB-BD31-4B8C-83A1-F6EECF244321}">
                <p14:modId xmlns:p14="http://schemas.microsoft.com/office/powerpoint/2010/main" val="3045216011"/>
              </p:ext>
            </p:extLst>
          </p:nvPr>
        </p:nvGraphicFramePr>
        <p:xfrm>
          <a:off x="498625" y="769975"/>
          <a:ext cx="6872775" cy="8409234"/>
        </p:xfrm>
        <a:graphic>
          <a:graphicData uri="http://schemas.openxmlformats.org/drawingml/2006/table">
            <a:tbl>
              <a:tblPr>
                <a:noFill/>
                <a:tableStyleId>{3C77D449-8B97-4026-9F53-FBCC8DF5A31F}</a:tableStyleId>
              </a:tblPr>
              <a:tblGrid>
                <a:gridCol w="356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7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00975">
                <a:tc gridSpan="5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b="1" u="sng" strike="noStrike" cap="none" dirty="0">
                          <a:solidFill>
                            <a:srgbClr val="6A00A7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PROPUESTA ECONÓMICA PARA PROVISIÓN DE SERVICIO DE PLATAFORMA INTEGRADORA DE MARKETPLACES BALCONY</a:t>
                      </a:r>
                      <a:endParaRPr sz="900" b="1" u="sng" strike="noStrike" cap="none" dirty="0">
                        <a:solidFill>
                          <a:srgbClr val="6A00A7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2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Razón Social: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LUNA BONITA SRL                                                           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CUIT: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30-71244858-6                                             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Fecha: 27/07/202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6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Responsable Legal: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LIN HANG                                                                 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DNI: 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94.168.380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                                                     Cargo: RESPONSABLE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Domicilio Fiscal: </a:t>
                      </a:r>
                      <a:r>
                        <a:rPr lang="es-AR" sz="900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LARREA 358, CABA,ARGENTINA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75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DETALLE - FEE y ONBOARDING - SERVICIO PLATAFORMA BALCONY INTEGRADA A ZEUS ERP &amp; POS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ABONO</a:t>
                      </a:r>
                      <a:r>
                        <a:rPr lang="es" sz="9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     MENSUAL</a:t>
                      </a:r>
                      <a:endParaRPr sz="9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900">
                <a:tc gridSpan="4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AR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ECOSISTEMA ZEUS - PLATAFORMA BALCONY - CANAL TIENDA NUBE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 $138.021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</a:t>
                      </a:r>
                      <a:r>
                        <a:rPr lang="es" sz="900" b="1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Abono</a:t>
                      </a:r>
                      <a:r>
                        <a:rPr lang="es" sz="900" b="1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 Mensual – Balcony </a:t>
                      </a:r>
                      <a:endParaRPr sz="900" b="1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sng" strike="noStrike" cap="none" dirty="0"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$138.021</a:t>
                      </a:r>
                      <a:endParaRPr sz="900" b="1" u="sng" strike="noStrike" cap="none" dirty="0"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 algn="ctr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Onboarding profesional </a:t>
                      </a:r>
                      <a:r>
                        <a:rPr lang="es" sz="900" u="none" strike="noStrike" cap="none">
                          <a:latin typeface="Ubuntu"/>
                          <a:ea typeface="Ubuntu"/>
                          <a:cs typeface="Ubuntu"/>
                          <a:sym typeface="Ubuntu"/>
                        </a:rPr>
                        <a:t>de Balcony</a:t>
                      </a:r>
                      <a:endParaRPr sz="900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 dirty="0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FFFF00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$690.105</a:t>
                      </a:r>
                      <a:endParaRPr sz="900" u="none" strike="noStrike" cap="none" dirty="0"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rgbClr val="EFEFE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Beneficio - Alianza Zeus + Balcony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highlight>
                            <a:srgbClr val="EFEFE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Beneficio 20 %</a:t>
                      </a:r>
                      <a:endParaRPr sz="900" u="none" strike="noStrike" cap="none" dirty="0"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highlight>
                          <a:srgbClr val="EFEFE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2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($138.021)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2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none" strike="noStrike" cap="none" dirty="0">
                          <a:latin typeface="Ubuntu"/>
                          <a:ea typeface="Ubuntu"/>
                          <a:cs typeface="Ubuntu"/>
                          <a:sym typeface="Ubuntu"/>
                        </a:rPr>
                        <a:t>Total de Onboarding profesional de Balcony para Tiendanube</a:t>
                      </a:r>
                      <a:endParaRPr sz="900" b="1" u="none" strike="noStrike" cap="none" dirty="0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900" b="1" u="none" strike="noStrike" cap="none"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" sz="900" b="1" u="sng" strike="noStrike" cap="none" dirty="0"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$552.084</a:t>
                      </a:r>
                      <a:endParaRPr sz="900" b="1" u="sng" strike="noStrike" cap="none" dirty="0"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4975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(*) El valor del servicio de arrendamiento mensual de la plataforma Balcony para su tecnología prevista incluye: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Uso del producto 7x24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Soporte en idioma español.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457200" marR="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Char char="❖"/>
                      </a:pPr>
                      <a:r>
                        <a:rPr lang="es-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1 Cuenta de Tienda Nube</a:t>
                      </a:r>
                    </a:p>
                    <a:p>
                      <a:pPr marL="17145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900"/>
                        <a:buFont typeface="Ubuntu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just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s" sz="8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Nota: Sólo se podrá asignar una misma lista de precios y un mismo depósito por implementación, pudiéndose establecer reglas con incrementos porcentuales sobre la plataforma de Balcony. En caso de requerir asignar distintas listas de precios y distintos depósitos a los canales contratados, se deberá contratar una implementación de balcony adicional por cada canal a integrar.</a:t>
                      </a:r>
                      <a:endParaRPr sz="8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----------------------------------------------------------------------------------------------------------------------------------------------------------------------------------------------------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valores pactados corresponden a precios especiales de Partnership en el marco de la Alianza ZEUS + BALCONY.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Forma de Pago del Onboarding: En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3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 pagos iguales y consecutivos sin interés, siendo el 1er pago inicial vía transferencia bancaria y el restante a 30 y 60 días de la firma de la orden de servicio, vía e-Cheq.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Forma de Pago del Abono Mensual por Débito Automático Bancario como condición de Contratación del Servicio. La Facturación del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abono mensual corre a partir de la fecha asignada de arranque del proceso de Onboarding.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Tiempo mínimo de permanencia 360 días, equivalente a 12 meses de facturación plena del servicio contratado.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importes expresados en la propuesta son en términos brutos y no incluyen impuestos (IVA y Percepciones IIBB).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Los beneficios otorgados no son renovables. 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Validez de la Propuesta Económica: hasta el 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31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/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07</a:t>
                      </a: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/202</a:t>
                      </a:r>
                      <a:r>
                        <a:rPr lang="es" sz="900" dirty="0">
                          <a:solidFill>
                            <a:srgbClr val="666666"/>
                          </a:solidFill>
                          <a:highlight>
                            <a:schemeClr val="lt1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6</a:t>
                      </a:r>
                      <a:endParaRPr sz="900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dirty="0">
                        <a:solidFill>
                          <a:srgbClr val="666666"/>
                        </a:solidFill>
                        <a:highlight>
                          <a:schemeClr val="lt1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  <a:p>
                      <a:pPr marL="0" marR="762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----------------------------------------------------------------------------------------------------------------------------------------------------------------------------------------------------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27200"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900" u="none" strike="noStrike" cap="none" dirty="0">
                          <a:solidFill>
                            <a:srgbClr val="666666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Por medio del presente dejo constancia de comprensión y aceptación de los alcances y funcionalidades que involucra la propuesta de provisión del servicio mensual de la Plataforma Integradora de Marketplaces Balcony, Plan Lite, conectada a ZEUS ERP &amp; POS.</a:t>
                      </a:r>
                      <a:endParaRPr sz="900" u="none" strike="noStrike" cap="none" dirty="0">
                        <a:solidFill>
                          <a:srgbClr val="666666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0" marT="72000" marB="72000" anchor="ctr">
                    <a:lnL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66666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7" name="Google Shape;57;p1"/>
          <p:cNvSpPr txBox="1"/>
          <p:nvPr/>
        </p:nvSpPr>
        <p:spPr>
          <a:xfrm>
            <a:off x="2037550" y="9612769"/>
            <a:ext cx="5391000" cy="920031"/>
          </a:xfrm>
          <a:prstGeom prst="rect">
            <a:avLst/>
          </a:prstGeom>
          <a:noFill/>
          <a:ln w="9525" cap="flat" cmpd="sng">
            <a:solidFill>
              <a:srgbClr val="6A00A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RAZÓN SOCIAL y CUIT: </a:t>
            </a:r>
            <a:r>
              <a:rPr lang="es-AR" sz="900" dirty="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rPr>
              <a:t>LUNA BONITA SRL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REPRESENTANTE LEGAL: </a:t>
            </a:r>
            <a:r>
              <a:rPr lang="es-AR" sz="900" dirty="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rPr>
              <a:t>LIN HANG 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NUMERO DNI: </a:t>
            </a:r>
            <a:r>
              <a:rPr lang="es" sz="900" dirty="0">
                <a:solidFill>
                  <a:srgbClr val="666666"/>
                </a:solidFill>
                <a:latin typeface="Ubuntu"/>
                <a:ea typeface="Ubuntu"/>
                <a:cs typeface="Ubuntu"/>
                <a:sym typeface="Ubuntu"/>
              </a:rPr>
              <a:t>94.168.380</a:t>
            </a:r>
          </a:p>
          <a:p>
            <a:pPr lvl="0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" sz="900" b="0" i="0" u="none" strike="noStrike" cap="none" dirty="0">
                <a:solidFill>
                  <a:schemeClr val="dk1"/>
                </a:solidFill>
                <a:highlight>
                  <a:schemeClr val="lt1"/>
                </a:highlight>
                <a:latin typeface="Ubuntu"/>
                <a:ea typeface="Ubuntu"/>
                <a:cs typeface="Ubuntu"/>
                <a:sym typeface="Ubuntu"/>
              </a:rPr>
              <a:t>FIRMA y ACLARACIÓN:	    ………...………………………………………………………...………...……...</a:t>
            </a:r>
            <a:endParaRPr sz="900" b="0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58" name="Google Shape;58;p1"/>
          <p:cNvGraphicFramePr/>
          <p:nvPr/>
        </p:nvGraphicFramePr>
        <p:xfrm>
          <a:off x="617089" y="9801089"/>
          <a:ext cx="1792625" cy="525750"/>
        </p:xfrm>
        <a:graphic>
          <a:graphicData uri="http://schemas.openxmlformats.org/drawingml/2006/table">
            <a:tbl>
              <a:tblPr>
                <a:noFill/>
                <a:tableStyleId>{C4625759-933A-498F-BE7B-406CF842ABB9}</a:tableStyleId>
              </a:tblPr>
              <a:tblGrid>
                <a:gridCol w="179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5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 b="1" u="none" strike="noStrike" cap="none">
                          <a:solidFill>
                            <a:srgbClr val="666666"/>
                          </a:solidFill>
                          <a:latin typeface="Ubuntu"/>
                          <a:ea typeface="Ubuntu"/>
                          <a:cs typeface="Ubuntu"/>
                          <a:sym typeface="Ubuntu"/>
                        </a:rPr>
                        <a:t>Ventas Digitales</a:t>
                      </a:r>
                      <a:endParaRPr sz="1200" b="1" u="none" strike="noStrike" cap="none">
                        <a:solidFill>
                          <a:srgbClr val="666666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" sz="1050" u="none" strike="noStrike" cap="none"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ventas@infosis.tech</a:t>
                      </a:r>
                      <a:r>
                        <a:rPr lang="es" sz="1050" u="none" strike="noStrike" cap="none">
                          <a:solidFill>
                            <a:srgbClr val="00CDCD"/>
                          </a:solidFill>
                          <a:highlight>
                            <a:srgbClr val="FFFFFF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200" u="none" strike="noStrike" cap="none">
                        <a:solidFill>
                          <a:srgbClr val="00CDCD"/>
                        </a:solidFill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L="0" marR="91425" marT="91425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9" name="Google Shape;59;p1"/>
          <p:cNvPicPr preferRelativeResize="0"/>
          <p:nvPr/>
        </p:nvPicPr>
        <p:blipFill rotWithShape="1">
          <a:blip r:embed="rId5">
            <a:alphaModFix/>
          </a:blip>
          <a:srcRect l="46704"/>
          <a:stretch/>
        </p:blipFill>
        <p:spPr>
          <a:xfrm>
            <a:off x="5647903" y="152400"/>
            <a:ext cx="1505550" cy="46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" title="logo Zeus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28575" y="253681"/>
            <a:ext cx="1148800" cy="335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14264</TotalTime>
  <Words>428</Words>
  <Application>Microsoft Office PowerPoint</Application>
  <PresentationFormat>Personalizado</PresentationFormat>
  <Paragraphs>52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Ubuntu</vt:lpstr>
      <vt:lpstr>Roboto</vt:lpstr>
      <vt:lpstr>Arial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Parque04</dc:creator>
  <cp:lastModifiedBy>dechavarria</cp:lastModifiedBy>
  <cp:revision>3</cp:revision>
  <dcterms:modified xsi:type="dcterms:W3CDTF">2026-07-27T14:00:16Z</dcterms:modified>
</cp:coreProperties>
</file>